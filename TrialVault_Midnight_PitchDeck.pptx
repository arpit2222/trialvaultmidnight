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D2137"/>
                </a:solidFill>
                <a:latin typeface="Arial"/>
              </a:defRPr>
            </a:pPr>
            <a:r>
              <a:rPr sz="900" b="0" i="0" u="none" strike="noStrike">
                <a:solidFill>
                  <a:srgbClr val="0D2137"/>
                </a:solidFill>
                <a:latin typeface="Arial"/>
              </a:rPr>
              <a:t>Revenue Projection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A4A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4A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4A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9EE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9EE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7C28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0.62</c:v>
                </c:pt>
                <c:pt idx="1">
                  <c:v>2.8</c:v>
                </c:pt>
                <c:pt idx="2">
                  <c:v>9.3</c:v>
                </c:pt>
                <c:pt idx="3">
                  <c:v>24</c:v>
                </c:pt>
                <c:pt idx="4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TrialVault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E8EFF7"/>
                </a:solidFill>
              </a:rPr>
              <a:t>Clinical trials fail because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E8EFF7"/>
                </a:solidFill>
              </a:rPr>
              <a:t>patient data can't be shared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E8EFF7"/>
                </a:solidFill>
              </a:rPr>
              <a:t>without being exposed.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292608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FA8C8"/>
                </a:solidFill>
              </a:rPr>
              <a:t>TrialVault fixes this with Zero-Knowledge Proofs on Midnight Network.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FA8C8"/>
                </a:solidFill>
              </a:rPr>
              <a:t>Prove eligibility. Preserve identity. Consent on-chain.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3931920"/>
            <a:ext cx="2468880" cy="868680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959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9EE8"/>
                </a:solidFill>
              </a:rPr>
              <a:t>$54B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43251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8C8"/>
                </a:solidFill>
              </a:rPr>
              <a:t>Clinical trial market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337560" y="3931920"/>
            <a:ext cx="2468880" cy="868680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959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9EE8"/>
                </a:solidFill>
              </a:rPr>
              <a:t>85%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37560" y="43251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8C8"/>
                </a:solidFill>
              </a:rPr>
              <a:t>Trials miss deadlines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80760" y="3931920"/>
            <a:ext cx="2468880" cy="868680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3959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9EE8"/>
                </a:solidFill>
              </a:rPr>
              <a:t>$41K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80760" y="43251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8C8"/>
                </a:solidFill>
              </a:rPr>
              <a:t>Cost per patient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8C8"/>
                </a:solidFill>
              </a:rPr>
              <a:t>Built on Midnight Network  ·  ZK-Native from day one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B9EE8"/>
                </a:solidFill>
              </a:rPr>
              <a:t>THE PROBLEM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The clinical trial system is failing — with staggering documented costs.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206240" cy="1783080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9EE8"/>
                </a:solidFill>
              </a:rPr>
              <a:t>85%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Miss recruitment targets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8FA8C8"/>
                </a:solidFill>
              </a:rPr>
              <a:t>Average delay: 7 months. Cost: $600K–$8M per day of delay.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8FA8C8"/>
                </a:solidFill>
              </a:rPr>
              <a:t>Hospitals can't share cohorts. Each recruits in isolation with no privacy-safe collaboration.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206240" cy="1783080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1155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9EE8"/>
                </a:solidFill>
              </a:rPr>
              <a:t>$41K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983480" y="1600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Per patient recruited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83480" y="184708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8FA8C8"/>
                </a:solidFill>
              </a:rPr>
              <a:t>Every patient recruited costs $41,000 — up 35% in a decade.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8FA8C8"/>
                </a:solidFill>
              </a:rPr>
              <a:t>This cost exists because hospitals recruit in isolation and cannot share cohort data.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206240" cy="1783080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0358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9EE8"/>
                </a:solidFill>
              </a:rPr>
              <a:t>$50B+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Lost to result suppression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76732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8FA8C8"/>
                </a:solidFill>
              </a:rPr>
              <a:t>Pharma buries negative trials. No cryptographic mechanism prevents post-hoc manipulation of published results.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00600" y="2926080"/>
            <a:ext cx="4206240" cy="1783080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30358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9EE8"/>
                </a:solidFill>
              </a:rPr>
              <a:t>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983480" y="3520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Patient data compensation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376732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8FA8C8"/>
                </a:solidFill>
              </a:rPr>
              <a:t>Patients generate the data. Pharma captures all revenue.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8FA8C8"/>
                </a:solidFill>
              </a:rPr>
              <a:t>Zero ownership, zero control, zero payment — ever.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B9EE8"/>
                </a:solidFill>
              </a:rPr>
              <a:t>ROOT CAUSE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</a:rPr>
              <a:t>The architecture is wrong.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A5068"/>
                </a:solidFill>
              </a:rPr>
              <a:t>Every existing system requires someone to trust someone with plaintext data.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A5068"/>
                </a:solidFill>
              </a:rPr>
              <a:t>That trust gets abused — structurally, not accidentally.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02920" cy="960120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642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1463040"/>
            <a:ext cx="7589520" cy="960120"/>
          </a:xfrm>
          <a:prstGeom prst="rect">
            <a:avLst/>
          </a:prstGeom>
          <a:solidFill>
            <a:srgbClr val="EAF0F8"/>
          </a:solidFill>
          <a:ln w="12700">
            <a:solidFill>
              <a:srgbClr val="C5D5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536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</a:rPr>
              <a:t>No privacy-preserving computation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88720" y="18470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A5068"/>
                </a:solidFill>
              </a:rPr>
              <a:t>To analyze health data you must share it. Sharing means exposure. Exposure violates GDPR/HIPAA. Collaboration is legally blocked — not by choice, but by architecture.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502920" cy="960120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072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05840" y="2606040"/>
            <a:ext cx="7589520" cy="960120"/>
          </a:xfrm>
          <a:prstGeom prst="rect">
            <a:avLst/>
          </a:prstGeom>
          <a:solidFill>
            <a:srgbClr val="EAF0F8"/>
          </a:solidFill>
          <a:ln w="12700">
            <a:solidFill>
              <a:srgbClr val="C5D5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2679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</a:rPr>
              <a:t>No cryptographic result integrity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88720" y="29900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A5068"/>
                </a:solidFill>
              </a:rPr>
              <a:t>Trial outcomes are submitted after analysis. There is no mechanism to prove published results match the original dataset. Selective suppression is trivially easy and legally unpunishable.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502920" cy="960120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502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05840" y="3749040"/>
            <a:ext cx="7589520" cy="960120"/>
          </a:xfrm>
          <a:prstGeom prst="rect">
            <a:avLst/>
          </a:prstGeom>
          <a:solidFill>
            <a:srgbClr val="EAF0F8"/>
          </a:solidFill>
          <a:ln w="12700">
            <a:solidFill>
              <a:srgbClr val="C5D5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3822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</a:rPr>
              <a:t>No patient-controlled data economy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88720" y="41330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A5068"/>
                </a:solidFill>
              </a:rPr>
              <a:t>Patients enroll, consent, contribute data, and disappear. They hold no token of ownership, earn no royalty, and cannot revoke access once enrolled.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B9EE8"/>
                </a:solidFill>
              </a:rPr>
              <a:t>SOLUTION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TrialVault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8C8"/>
                </a:solidFill>
              </a:rPr>
              <a:t>Prove eligibility with zero-knowledge proofs.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8C8"/>
                </a:solidFill>
              </a:rPr>
              <a:t>Patients stay private. Pharma gets answers. Results can't be buried.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749040" y="1691640"/>
            <a:ext cx="1645920" cy="164592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2011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Proofs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2560320" cy="1554480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37360"/>
            <a:ext cx="2560320" cy="64008"/>
          </a:xfrm>
          <a:prstGeom prst="rect">
            <a:avLst/>
          </a:prstGeom>
          <a:solidFill>
            <a:srgbClr val="27C28A"/>
          </a:solidFill>
          <a:ln w="12700">
            <a:solidFill>
              <a:srgbClr val="27C2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Patients earn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194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8FA8C8"/>
                </a:solidFill>
              </a:rPr>
              <a:t>Token royalties for every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8FA8C8"/>
                </a:solidFill>
              </a:rPr>
              <a:t>licensed use of their data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8FA8C8"/>
                </a:solidFill>
              </a:rPr>
              <a:t>via on-chain consent tokens.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737360"/>
            <a:ext cx="2560320" cy="1554480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737360"/>
            <a:ext cx="2560320" cy="64008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Results can't be buried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194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8FA8C8"/>
                </a:solidFill>
              </a:rPr>
              <a:t>On-chain protocol hash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8FA8C8"/>
                </a:solidFill>
              </a:rPr>
              <a:t>before any analysis runs.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8FA8C8"/>
                </a:solidFill>
              </a:rPr>
              <a:t>Suppression is impossible.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737360"/>
            <a:ext cx="2560320" cy="1554480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737360"/>
            <a:ext cx="25603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Hospitals collaborate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2194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8FA8C8"/>
                </a:solidFill>
              </a:rPr>
              <a:t>ZK multi-party proofs —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8FA8C8"/>
                </a:solidFill>
              </a:rPr>
              <a:t>zero patient records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8FA8C8"/>
                </a:solidFill>
              </a:rPr>
              <a:t>ever shared across sites.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EFF7"/>
                </a:solidFill>
              </a:rPr>
              <a:t>ZK proofs let pharma verify eligibility without ever seeing patient data.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E8EFF7"/>
                </a:solidFill>
              </a:rPr>
              <a:t>Midnight Network enforces it at the protocol level — no trust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B9EE8"/>
                </a:solidFill>
              </a:rPr>
              <a:t>TECHNOLOGY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ZK Proofs on Midnight: prove without revealing.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C8"/>
                </a:solidFill>
              </a:rPr>
              <a:t>Without ZK + selective disclosure you must choose between privacy and analysis. Midnight eliminates that tradeoff.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3520440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EE8"/>
                </a:solidFill>
              </a:rPr>
              <a:t>What Midnight enables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E8EFF7"/>
                </a:solidFill>
              </a:rPr>
              <a:t>Patient proves eligibility inside Compact circuit — health data never leaves client</a:t>
            </a:r>
            <a:endParaRPr lang="en-US" sz="90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E8EFF7"/>
                </a:solidFill>
              </a:rPr>
              <a:t>Nullifiers prevent double-enrollment without revealing identity</a:t>
            </a:r>
            <a:endParaRPr lang="en-US" sz="90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E8EFF7"/>
                </a:solidFill>
              </a:rPr>
              <a:t>Selective disclosure: reveal only consent date or protocol hash to regulators</a:t>
            </a:r>
            <a:endParaRPr lang="en-US" sz="90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E8EFF7"/>
                </a:solidFill>
              </a:rPr>
              <a:t>Confidential smart contracts enforce consent lifecycle on-chain</a:t>
            </a:r>
            <a:endParaRPr lang="en-US" sz="90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E8EFF7"/>
                </a:solidFill>
              </a:rPr>
              <a:t>Public ledger shows proof + count; private state holds actual data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114800" cy="3520440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EE8"/>
                </a:solidFill>
              </a:rPr>
              <a:t>Why not alternatives?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719072"/>
            <a:ext cx="3840480" cy="694944"/>
          </a:xfrm>
          <a:prstGeom prst="rect">
            <a:avLst/>
          </a:prstGeom>
          <a:solidFill>
            <a:srgbClr val="0E1E33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81051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FHE —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8FA8C8"/>
                </a:solidFill>
              </a:rPr>
              <a:t>Powerful but computationally heavy; circuit flexibility not needed for fixed eligibility checks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0" y="2523744"/>
            <a:ext cx="3840480" cy="694944"/>
          </a:xfrm>
          <a:prstGeom prst="rect">
            <a:avLst/>
          </a:prstGeom>
          <a:solidFill>
            <a:srgbClr val="0E1E33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61518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Federated learning —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8FA8C8"/>
                </a:solidFill>
              </a:rPr>
              <a:t>Gradient inversion attacks can reconstruct patient records — probabilistic, not cryptographic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0" y="3328416"/>
            <a:ext cx="3840480" cy="694944"/>
          </a:xfrm>
          <a:prstGeom prst="rect">
            <a:avLst/>
          </a:prstGeom>
          <a:solidFill>
            <a:srgbClr val="0E1E33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41985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Trusted hardware (TEE) —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8FA8C8"/>
                </a:solidFill>
              </a:rPr>
              <a:t>Hardware-dependent; Intel SGX has had 12+ disclosed exploits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4133088"/>
            <a:ext cx="3840480" cy="694944"/>
          </a:xfrm>
          <a:prstGeom prst="rect">
            <a:avLst/>
          </a:prstGeom>
          <a:solidFill>
            <a:srgbClr val="0E1E33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422452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Central data rooms —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8FA8C8"/>
                </a:solidFill>
              </a:rPr>
              <a:t>Trust-based — insider access = full breach; no cryptographic guarantee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" y="481888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C28A"/>
                </a:solidFill>
              </a:rPr>
              <a:t>Midnight Network (ZK) ✓  |  Cryptographic guarantee — math, not policy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B9EE8"/>
                </a:solidFill>
              </a:rPr>
              <a:t>PRODUCT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137"/>
                </a:solidFill>
              </a:rPr>
              <a:t>6 modules. Each one makes a broken thing impossible to break.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267004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2670048" cy="5486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EE8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6112" y="1088136"/>
            <a:ext cx="1920240" cy="201168"/>
          </a:xfrm>
          <a:prstGeom prst="rect">
            <a:avLst/>
          </a:prstGeom>
          <a:solidFill>
            <a:srgbClr val="E8F0FB"/>
          </a:solidFill>
          <a:ln w="12700">
            <a:solidFill>
              <a:srgbClr val="C5D5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0881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4A7A"/>
                </a:solidFill>
              </a:rPr>
              <a:t>ZK + Token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3441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</a:rPr>
              <a:t>Patient Data Vault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A5068"/>
                </a:solidFill>
              </a:rPr>
              <a:t>Health data stays on client. ZK proof of data existence minted as consent token. Revocable anytime.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82112" y="960120"/>
            <a:ext cx="267004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960120"/>
            <a:ext cx="2670048" cy="5486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0515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EE8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30752" y="1088136"/>
            <a:ext cx="1920240" cy="201168"/>
          </a:xfrm>
          <a:prstGeom prst="rect">
            <a:avLst/>
          </a:prstGeom>
          <a:solidFill>
            <a:srgbClr val="E8F0FB"/>
          </a:solidFill>
          <a:ln w="12700">
            <a:solidFill>
              <a:srgbClr val="C5D5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0752" y="10881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4A7A"/>
                </a:solidFill>
              </a:rPr>
              <a:t>ZK Circuit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91840" y="13441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</a:rPr>
              <a:t>Trial Matching Engine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91840" y="16916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A5068"/>
                </a:solidFill>
              </a:rPr>
              <a:t>Blind eligibility evaluation via Compact circuit. Pharma gets a pool count. Zero patient identities exposed.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16752" y="960120"/>
            <a:ext cx="267004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16752" y="960120"/>
            <a:ext cx="2670048" cy="5486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0515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EE8"/>
                </a:solidFill>
              </a:rPr>
              <a:t>03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65392" y="1088136"/>
            <a:ext cx="1920240" cy="201168"/>
          </a:xfrm>
          <a:prstGeom prst="rect">
            <a:avLst/>
          </a:prstGeom>
          <a:solidFill>
            <a:srgbClr val="E8F0FB"/>
          </a:solidFill>
          <a:ln w="12700">
            <a:solidFill>
              <a:srgbClr val="C5D5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65392" y="10881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4A7A"/>
                </a:solidFill>
              </a:rPr>
              <a:t>Selective Disclosure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126480" y="13441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</a:rPr>
              <a:t>Data Licensing Market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26480" y="16916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A5068"/>
                </a:solidFill>
              </a:rPr>
              <a:t>Patient selectively discloses fields under signed consent. Token payment atomic with disclosure.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" y="2953512"/>
            <a:ext cx="267004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2953512"/>
            <a:ext cx="2670048" cy="5486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449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EE8"/>
                </a:solidFill>
              </a:rPr>
              <a:t>04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96112" y="3081528"/>
            <a:ext cx="1920240" cy="201168"/>
          </a:xfrm>
          <a:prstGeom prst="rect">
            <a:avLst/>
          </a:prstGeom>
          <a:solidFill>
            <a:srgbClr val="E8F0FB"/>
          </a:solidFill>
          <a:ln w="12700">
            <a:solidFill>
              <a:srgbClr val="C5D5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3081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4A7A"/>
                </a:solidFill>
              </a:rPr>
              <a:t>ZK Multi-Party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720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</a:rPr>
              <a:t>Cross-Hospital Analysis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368503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A5068"/>
                </a:solidFill>
              </a:rPr>
              <a:t>Each hospital submits ZK proofs of aggregate stats. No hospital sees another's patients.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182112" y="2953512"/>
            <a:ext cx="267004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82112" y="2953512"/>
            <a:ext cx="2670048" cy="5486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30449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EE8"/>
                </a:solidFill>
              </a:rPr>
              <a:t>05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730752" y="3081528"/>
            <a:ext cx="1920240" cy="201168"/>
          </a:xfrm>
          <a:prstGeom prst="rect">
            <a:avLst/>
          </a:prstGeom>
          <a:solidFill>
            <a:srgbClr val="E8F0FB"/>
          </a:solidFill>
          <a:ln w="12700">
            <a:solidFill>
              <a:srgbClr val="C5D5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30752" y="3081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4A7A"/>
                </a:solidFill>
              </a:rPr>
              <a:t>On-Chain Hash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29184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</a:rPr>
              <a:t>Result Integrity Layer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91840" y="368503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A5068"/>
                </a:solidFill>
              </a:rPr>
              <a:t>Protocol hash committed before enrollment. Results linked to hash on-chain. Suppression is provably impossible.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016752" y="2953512"/>
            <a:ext cx="267004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16752" y="2953512"/>
            <a:ext cx="2670048" cy="5486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30449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EE8"/>
                </a:solidFill>
              </a:rPr>
              <a:t>06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565392" y="3081528"/>
            <a:ext cx="1920240" cy="201168"/>
          </a:xfrm>
          <a:prstGeom prst="rect">
            <a:avLst/>
          </a:prstGeom>
          <a:solidFill>
            <a:srgbClr val="E8F0FB"/>
          </a:solidFill>
          <a:ln w="12700">
            <a:solidFill>
              <a:srgbClr val="C5D5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65392" y="3081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4A7A"/>
                </a:solidFill>
              </a:rPr>
              <a:t>Confidential Contract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12648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</a:rPr>
              <a:t>Adverse Event Reporting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126480" y="368503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A5068"/>
                </a:solidFill>
              </a:rPr>
              <a:t>Anonymised encrypted signals aggregated on-chain. Threshold alert fires automatically — no party can suppress it.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B9EE8"/>
                </a:solidFill>
              </a:rPr>
              <a:t>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3-layer ZK-native architecture — privacy enforced at every boundary.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64592" cy="1170432"/>
          </a:xfrm>
          <a:prstGeom prst="rect">
            <a:avLst/>
          </a:prstGeom>
          <a:solidFill>
            <a:srgbClr val="27C28A"/>
          </a:solidFill>
          <a:ln w="12700">
            <a:solidFill>
              <a:srgbClr val="27C2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960120"/>
            <a:ext cx="8229600" cy="1170432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05156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27C28A"/>
                </a:solidFill>
              </a:rPr>
              <a:t>LAYER 1 — Client (Browser)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13075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FF7"/>
                </a:solidFill>
              </a:rPr>
              <a:t>Patient Portal  |  Next.js + TypeScript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5453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FF7"/>
                </a:solidFill>
              </a:rPr>
              <a:t>Midnight.js SDK  |  ZK witness generation client-side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63440" y="13075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FF7"/>
                </a:solidFill>
              </a:rPr>
              <a:t>Pharma Portal  |  Next.js + TypeScript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663440" y="15453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FF7"/>
                </a:solidFill>
              </a:rPr>
              <a:t>Lace Wallet  |  Midnight wallet integration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304288"/>
            <a:ext cx="164592" cy="1170432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" y="2304288"/>
            <a:ext cx="8229600" cy="1170432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239572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3B9EE8"/>
                </a:solidFill>
              </a:rPr>
              <a:t>LAYER 2 — Midnight Network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" y="26517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FF7"/>
                </a:solidFill>
              </a:rPr>
              <a:t>patient_vault.compact  |  Shielded consent tokens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2960" y="28895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FF7"/>
                </a:solidFill>
              </a:rPr>
              <a:t>trial_matcher.compact  |  Eligibility ZK circuits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2960" y="31272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FF7"/>
                </a:solidFill>
              </a:rPr>
              <a:t>license_market.compact  |  Selective disclosure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63440" y="26517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FF7"/>
                </a:solidFill>
              </a:rPr>
              <a:t>result_integrity.compact  |  Protocol hash commitment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63440" y="28895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FF7"/>
                </a:solidFill>
              </a:rPr>
              <a:t>event_reporter.compact  |  Adverse event aggregation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648456"/>
            <a:ext cx="164592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" y="3648456"/>
            <a:ext cx="8229600" cy="1170432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3739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5A623"/>
                </a:solidFill>
              </a:rPr>
              <a:t>LAYER 3 — Storage &amp; Indexing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" y="39959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FF7"/>
                </a:solidFill>
              </a:rPr>
              <a:t>IPFS / Filecoin  |  Encrypted data blobs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" y="42336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FF7"/>
                </a:solidFill>
              </a:rPr>
              <a:t>Midnight Indexer  |  Shielded event indexing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63440" y="39959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FF7"/>
                </a:solidFill>
              </a:rPr>
              <a:t>Oracles  |  Off-chain data feeds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487375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C8"/>
                </a:solidFill>
              </a:rPr>
              <a:t>Private state (shielded): patient health data, witnesses, identity  |  Public ledger: ZK proofs, nullifiers, counts, consent status, protocol hashes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B9EE8"/>
                </a:solidFill>
              </a:rPr>
              <a:t>PRODUCT DEMO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 trial runs from patient registration to consent — nothing is ever exposed.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807208" cy="1783080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051560"/>
            <a:ext cx="347472" cy="347472"/>
          </a:xfrm>
          <a:prstGeom prst="ellipse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2104" y="1097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B9EE8"/>
                </a:solidFill>
              </a:rPr>
              <a:t>PATIENT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29768" y="1463040"/>
            <a:ext cx="2578608" cy="274320"/>
          </a:xfrm>
          <a:prstGeom prst="rect">
            <a:avLst/>
          </a:prstGeom>
          <a:solidFill>
            <a:srgbClr val="071525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7218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C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generate_witness(age, diagnosis, labValues)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29768" y="1801368"/>
            <a:ext cx="257860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8FA8C8"/>
                </a:solidFill>
              </a:rPr>
              <a:t>Patient fills health form in browser. Midnight.js generates ZK witnesses locally. Raw data never leaves the device.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64408" y="960120"/>
            <a:ext cx="2807208" cy="1783080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74136" y="1051560"/>
            <a:ext cx="347472" cy="347472"/>
          </a:xfrm>
          <a:prstGeom prst="ellipse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76472" y="1097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B9EE8"/>
                </a:solidFill>
              </a:rPr>
              <a:t>COMPACT CIRCUIT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374136" y="1463040"/>
            <a:ext cx="2578608" cy="274320"/>
          </a:xfrm>
          <a:prstGeom prst="rect">
            <a:avLst/>
          </a:prstGeom>
          <a:solidFill>
            <a:srgbClr val="071525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147218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C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age &gt;= minAge &amp;&amp; age &lt;= maxAge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74136" y="1801368"/>
            <a:ext cx="257860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8FA8C8"/>
                </a:solidFill>
              </a:rPr>
              <a:t>Eligibility circuit evaluates all criteria inside the ZK proof. Pharma submits encrypted criteria; circuit checks match — zero values revealed.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08776" y="960120"/>
            <a:ext cx="2807208" cy="1783080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18504" y="1051560"/>
            <a:ext cx="347472" cy="347472"/>
          </a:xfrm>
          <a:prstGeom prst="ellipse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8504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20840" y="1097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B9EE8"/>
                </a:solidFill>
              </a:rPr>
              <a:t>NULLIFIER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318504" y="1463040"/>
            <a:ext cx="2578608" cy="274320"/>
          </a:xfrm>
          <a:prstGeom prst="rect">
            <a:avLst/>
          </a:prstGeom>
          <a:solidFill>
            <a:srgbClr val="071525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5936" y="147218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C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nullifier = hash(secretKey, protocolId)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318504" y="1801368"/>
            <a:ext cx="257860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8FA8C8"/>
                </a:solidFill>
              </a:rPr>
              <a:t>Unique nullifier prevents double-enrollment. Stored on-chain without linking to patient identity. Cryptographic uniqueness enforced.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2880360"/>
            <a:ext cx="2807208" cy="1783080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9768" y="2971800"/>
            <a:ext cx="347472" cy="347472"/>
          </a:xfrm>
          <a:prstGeom prst="ellipse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2104" y="30175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B9EE8"/>
                </a:solidFill>
              </a:rPr>
              <a:t>PHARMA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29768" y="3383280"/>
            <a:ext cx="2578608" cy="274320"/>
          </a:xfrm>
          <a:prstGeom prst="rect">
            <a:avLst/>
          </a:prstGeom>
          <a:solidFill>
            <a:srgbClr val="071525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39242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C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ledger.eligibleCount  // e.g. 312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29768" y="3721608"/>
            <a:ext cx="257860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8FA8C8"/>
                </a:solidFill>
              </a:rPr>
              <a:t>Pharma reads only the aggregate count from the public ledger. No names, no diagnoses, no identities — ever.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64408" y="2880360"/>
            <a:ext cx="2807208" cy="1783080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74136" y="2971800"/>
            <a:ext cx="347472" cy="347472"/>
          </a:xfrm>
          <a:prstGeom prst="ellipse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74136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776472" y="30175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B9EE8"/>
                </a:solidFill>
              </a:rPr>
              <a:t>PATIENT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374136" y="3383280"/>
            <a:ext cx="2578608" cy="274320"/>
          </a:xfrm>
          <a:prstGeom prst="rect">
            <a:avLst/>
          </a:prstGeom>
          <a:solidFill>
            <a:srgbClr val="071525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01568" y="339242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C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grantConsent(trialId)  →  consent_token minted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374136" y="3721608"/>
            <a:ext cx="257860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8FA8C8"/>
                </a:solidFill>
              </a:rPr>
              <a:t>Patient reviews trial details and consents on-chain. Consent token issued. Token payment atomic with disclosure key.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208776" y="2880360"/>
            <a:ext cx="2807208" cy="1783080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18504" y="2971800"/>
            <a:ext cx="347472" cy="347472"/>
          </a:xfrm>
          <a:prstGeom prst="ellipse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18504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20840" y="30175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B9EE8"/>
                </a:solidFill>
              </a:rPr>
              <a:t>RESULT LAYER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318504" y="3383280"/>
            <a:ext cx="2578608" cy="274320"/>
          </a:xfrm>
          <a:prstGeom prst="rect">
            <a:avLst/>
          </a:prstGeom>
          <a:solidFill>
            <a:srgbClr val="071525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45936" y="339242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C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verify(resultsHash, protocolHash)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318504" y="3721608"/>
            <a:ext cx="257860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8FA8C8"/>
                </a:solidFill>
              </a:rPr>
              <a:t>Pharma committed protocol hash pre-enrollment. Published results verified against on-chain hash. Suppression is provably impossible.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B9EE8"/>
                </a:solidFill>
              </a:rPr>
              <a:t>MARKET OPPORTUNITY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137"/>
                </a:solidFill>
              </a:rPr>
              <a:t>$54B market. We enter where the pain is largest.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2606040" cy="64008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EE8"/>
                </a:solidFill>
              </a:rPr>
              <a:t>TAM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137"/>
                </a:solidFill>
              </a:rPr>
              <a:t>$54B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95681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A5068"/>
                </a:solidFill>
              </a:rPr>
              <a:t>Global clinical trial market 2024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A5068"/>
                </a:solidFill>
              </a:rPr>
              <a:t>↗ $85B by 2032 (5.8% CAGR)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96012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960120"/>
            <a:ext cx="2606040" cy="6400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051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A7A"/>
                </a:solidFill>
              </a:rPr>
              <a:t>SAM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13258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137"/>
                </a:solidFill>
              </a:rPr>
              <a:t>$12B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83280" y="195681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A5068"/>
                </a:solidFill>
              </a:rPr>
              <a:t>Trials blocked by privacy &amp;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A5068"/>
                </a:solidFill>
              </a:rPr>
              <a:t>collaboration constraints — 22% of all trials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96012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960120"/>
            <a:ext cx="2606040" cy="64008"/>
          </a:xfrm>
          <a:prstGeom prst="rect">
            <a:avLst/>
          </a:prstGeom>
          <a:solidFill>
            <a:srgbClr val="27C28A"/>
          </a:solidFill>
          <a:ln w="12700">
            <a:solidFill>
              <a:srgbClr val="27C2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051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C28A"/>
                </a:solidFill>
              </a:rPr>
              <a:t>SOM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13258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137"/>
                </a:solidFill>
              </a:rPr>
              <a:t>$480M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217920" y="195681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A5068"/>
                </a:solidFill>
              </a:rPr>
              <a:t>Year 5 target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A5068"/>
                </a:solidFill>
              </a:rPr>
              <a:t>4% of SAM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" y="3108960"/>
          <a:ext cx="50292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5577840" y="320040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i="1" dirty="0">
                <a:solidFill>
                  <a:srgbClr val="3A5068"/>
                </a:solidFill>
              </a:rPr>
              <a:t>Key tailwind: 57% of pharma companies cite data privacy as their #1 blocker to AI adoption in clinical trials — TrialVault's ZK stack directly unlocks this.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B9EE8"/>
                </a:solidFill>
              </a:rPr>
              <a:t>COMPETITIVE LANDSCAPE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Nobody has built this. The gap isn't a feature — it's the architecture.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463040"/>
                <a:gridCol w="1371600"/>
                <a:gridCol w="1600200"/>
                <a:gridCol w="10972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Patient ownership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Cross-hosp. collab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Result integrity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ZK / Privacy compute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Token economy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FA8C8"/>
                          </a:solidFill>
                        </a:rPr>
                        <a:t>ClinicalTrials.gov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FA8C8"/>
                          </a:solidFill>
                        </a:rPr>
                        <a:t>Partial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FA8C8"/>
                          </a:solidFill>
                        </a:rPr>
                        <a:t>Medidata (Veeva)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FA8C8"/>
                          </a:solidFill>
                        </a:rPr>
                        <a:t>Central trust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FA8C8"/>
                          </a:solidFill>
                        </a:rPr>
                        <a:t>Federated learning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FA8C8"/>
                          </a:solidFill>
                        </a:rPr>
                        <a:t>Partial*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FA8C8"/>
                          </a:solidFill>
                        </a:rPr>
                        <a:t>Health data NFTs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FA8C8"/>
                          </a:solidFill>
                        </a:rPr>
                        <a:t>Partial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FA8C8"/>
                          </a:solidFill>
                        </a:rPr>
                        <a:t>Partial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FA8C8"/>
                          </a:solidFill>
                        </a:rPr>
                        <a:t>TrialVault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C28A"/>
                          </a:solidFill>
                        </a:rPr>
                        <a:t>Full 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C28A"/>
                          </a:solidFill>
                        </a:rPr>
                        <a:t>Full 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C28A"/>
                          </a:solidFill>
                        </a:rPr>
                        <a:t>Full 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C28A"/>
                          </a:solidFill>
                        </a:rPr>
                        <a:t>Full 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C28A"/>
                          </a:solidFill>
                        </a:rPr>
                        <a:t>Full 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1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3434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FA8C8"/>
                </a:solidFill>
              </a:rPr>
              <a:t>*Federated learning is vulnerable to gradient inversion attacks — probabilistic privacy, not cryptographic.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B9EE8"/>
                </a:solidFill>
              </a:rPr>
              <a:t>BUSINESS 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137"/>
                </a:solidFill>
              </a:rPr>
              <a:t>Four revenue streams — pharma pays, patients earn, platform scales.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1463040"/>
                <a:gridCol w="777240"/>
                <a:gridCol w="777240"/>
                <a:gridCol w="77724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Revenue stream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Yr 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Yr 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Yr 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5068"/>
                          </a:solidFill>
                        </a:rPr>
                        <a:t>Trial matching fees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5068"/>
                          </a:solidFill>
                        </a:rPr>
                        <a:t>Per-trial / subscription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5068"/>
                          </a:solidFill>
                        </a:rPr>
                        <a:t>Pharma sponsors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4A7A"/>
                          </a:solidFill>
                        </a:rPr>
                        <a:t>$240K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4A7A"/>
                          </a:solidFill>
                        </a:rPr>
                        <a:t>$3.2M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4A7A"/>
                          </a:solidFill>
                        </a:rPr>
                        <a:t>$18M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5068"/>
                          </a:solidFill>
                        </a:rPr>
                        <a:t>Data licensing platform fee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5068"/>
                          </a:solidFill>
                        </a:rPr>
                        <a:t>5% of each license tx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5068"/>
                          </a:solidFill>
                        </a:rPr>
                        <a:t>Pharma (% of value)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4A7A"/>
                          </a:solidFill>
                        </a:rPr>
                        <a:t>$180K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4A7A"/>
                          </a:solidFill>
                        </a:rPr>
                        <a:t>$2.8M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4A7A"/>
                          </a:solidFill>
                        </a:rPr>
                        <a:t>$14M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5068"/>
                          </a:solidFill>
                        </a:rPr>
                        <a:t>Cross-hospital ZK compute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5068"/>
                          </a:solidFill>
                        </a:rPr>
                        <a:t>Per-trial + per-batch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5068"/>
                          </a:solidFill>
                        </a:rPr>
                        <a:t>Trial coordinators / CROs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4A7A"/>
                          </a:solidFill>
                        </a:rPr>
                        <a:t>$120K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4A7A"/>
                          </a:solidFill>
                        </a:rPr>
                        <a:t>$1.9M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4A7A"/>
                          </a:solidFill>
                        </a:rPr>
                        <a:t>$10M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5068"/>
                          </a:solidFill>
                        </a:rPr>
                        <a:t>Result integrity SaaS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5068"/>
                          </a:solidFill>
                        </a:rPr>
                        <a:t>Annual per-trial subscription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5068"/>
                          </a:solidFill>
                        </a:rPr>
                        <a:t>Pharma / regulators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4A7A"/>
                          </a:solidFill>
                        </a:rPr>
                        <a:t>$80K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4A7A"/>
                          </a:solidFill>
                        </a:rPr>
                        <a:t>$1.4M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4A7A"/>
                          </a:solidFill>
                        </a:rPr>
                        <a:t>$8M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4A7A"/>
                          </a:solidFill>
                        </a:rPr>
                        <a:t>Total projected revenue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9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9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9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9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9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9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9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9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9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9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9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9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2137"/>
                          </a:solidFill>
                        </a:rPr>
                        <a:t>$620K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9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9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9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9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2137"/>
                          </a:solidFill>
                        </a:rPr>
                        <a:t>$9.3M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9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9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9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9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2137"/>
                          </a:solidFill>
                        </a:rPr>
                        <a:t>$50M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9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9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9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9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A5068"/>
                </a:solidFill>
              </a:rPr>
              <a:t>Gross Margin: 78% — infrastructure costs scale sub-linearly with ACV growth</a:t>
            </a:r>
            <a:endParaRPr lang="en-US" sz="900" dirty="0"/>
          </a:p>
          <a:p>
            <a:pPr marL="342900" indent="-3429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A5068"/>
                </a:solidFill>
              </a:rPr>
              <a:t>Net Revenue Retention: 125% Year 3+ as trials add modules</a:t>
            </a:r>
            <a:endParaRPr lang="en-US" sz="900" dirty="0"/>
          </a:p>
          <a:p>
            <a:pPr marL="342900" indent="-3429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A5068"/>
                </a:solidFill>
              </a:rPr>
              <a:t>Payback Period: 6 months enterprise / 4 months mid-market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B9EE8"/>
                </a:solidFill>
              </a:rPr>
              <a:t>GO-TO-MARKET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Land with research hospitals. Expand to CROs. Scale to Big Pharma.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143000" cy="1170432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9EE8"/>
                </a:solidFill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C8"/>
                </a:solidFill>
              </a:rPr>
              <a:t>Months 1–8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600200" y="960120"/>
            <a:ext cx="7223760" cy="1170432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83080" y="105156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Beachhead: Academic Research Hospitals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83080" y="1344168"/>
            <a:ext cx="6858000" cy="219456"/>
          </a:xfrm>
          <a:prstGeom prst="rect">
            <a:avLst/>
          </a:prstGeom>
          <a:solidFill>
            <a:srgbClr val="0A1929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135331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7C28A"/>
                </a:solidFill>
              </a:rPr>
              <a:t>KPI: First ZK multi-site match: 500+ patients, 0 records exposed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783080" y="16184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8FA8C8"/>
                </a:solidFill>
              </a:rPr>
              <a:t>Research hospitals run trials but lose millions to failed recruitment. We offer free infrastructure in exchange for an encrypted cohort pilot.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304288"/>
            <a:ext cx="1143000" cy="1170432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871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9EE8"/>
                </a:solidFill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80720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C8"/>
                </a:solidFill>
              </a:rPr>
              <a:t>Months 9–18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600200" y="2304288"/>
            <a:ext cx="7223760" cy="1170432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783080" y="23957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Expansion: Contract Research Orgs (CROs)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83080" y="2688336"/>
            <a:ext cx="6858000" cy="219456"/>
          </a:xfrm>
          <a:prstGeom prst="rect">
            <a:avLst/>
          </a:prstGeom>
          <a:solidFill>
            <a:srgbClr val="0A1929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269748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7C28A"/>
                </a:solidFill>
              </a:rPr>
              <a:t>KPI: $1.2M ARR by end of Phase 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783080" y="296265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8FA8C8"/>
                </a:solidFill>
              </a:rPr>
              <a:t>CROs service dozens of pharma clients simultaneously — one CRO win multiplies into many trials. ZK proofs reduce compliance overhead across jurisdictions.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648456"/>
            <a:ext cx="1143000" cy="1170432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3133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9EE8"/>
                </a:solidFill>
              </a:rPr>
              <a:t>Phase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15137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C8"/>
                </a:solidFill>
              </a:rPr>
              <a:t>Year 2–5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600200" y="3648456"/>
            <a:ext cx="7223760" cy="1170432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783080" y="373989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Scale: Enterprise Pharma + Regulatory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783080" y="4032504"/>
            <a:ext cx="6858000" cy="219456"/>
          </a:xfrm>
          <a:prstGeom prst="rect">
            <a:avLst/>
          </a:prstGeom>
          <a:solidFill>
            <a:srgbClr val="0A1929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74520" y="40416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7C28A"/>
                </a:solidFill>
              </a:rPr>
              <a:t>KPI: $50M ARR by Year 5 with 15 enterprise contracts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783080" y="430682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8FA8C8"/>
                </a:solidFill>
              </a:rPr>
              <a:t>Enterprise pharma is where revenue concentrates. Regulatory acceptance of ZK-proven result integrity is the moat. Midnight Network's auditability enables this.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B9EE8"/>
                </a:solidFill>
              </a:rPr>
              <a:t>ROADMAP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137"/>
                </a:solidFill>
              </a:rPr>
              <a:t>3 waves — from Midnight testnet proof to production infrastructure.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74320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2743200" cy="54864"/>
          </a:xfrm>
          <a:prstGeom prst="rect">
            <a:avLst/>
          </a:prstGeom>
          <a:solidFill>
            <a:srgbClr val="27C28A"/>
          </a:solidFill>
          <a:ln w="12700">
            <a:solidFill>
              <a:srgbClr val="27C2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Wave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58568" y="1024128"/>
            <a:ext cx="685800" cy="201168"/>
          </a:xfrm>
          <a:prstGeom prst="rect">
            <a:avLst/>
          </a:prstGeom>
          <a:solidFill>
            <a:srgbClr val="EAF0F8"/>
          </a:solidFill>
          <a:ln w="12700">
            <a:solidFill>
              <a:srgbClr val="C5D5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58568" y="10241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C28A"/>
                </a:solidFill>
              </a:rPr>
              <a:t>In progress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12801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68"/>
                </a:solidFill>
              </a:rPr>
              <a:t>Now → Month 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153619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3A5068"/>
                </a:solidFill>
              </a:rPr>
              <a:t>patient_vault.compact + trial_matcher.compact on Midnight testnet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193852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3A5068"/>
                </a:solidFill>
              </a:rPr>
              <a:t>Midnight.js SDK client-side witness generation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2340864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3A5068"/>
                </a:solidFill>
              </a:rPr>
              <a:t>Patient Portal + Pharma Portal (Next.js)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274320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3A5068"/>
                </a:solidFill>
              </a:rPr>
              <a:t>ZK eligibility circuit with nullifier anti-double-enrollment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314553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3A5068"/>
                </a:solidFill>
              </a:rPr>
              <a:t>Full test suite with Midnight devnet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" y="354787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3A5068"/>
                </a:solidFill>
              </a:rPr>
              <a:t>IPFS integration for encrypted blob storage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18688" y="914400"/>
            <a:ext cx="274320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18688" y="914400"/>
            <a:ext cx="2743200" cy="5486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005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Wave 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57216" y="1024128"/>
            <a:ext cx="685800" cy="201168"/>
          </a:xfrm>
          <a:prstGeom prst="rect">
            <a:avLst/>
          </a:prstGeom>
          <a:solidFill>
            <a:srgbClr val="EAF0F8"/>
          </a:solidFill>
          <a:ln w="12700">
            <a:solidFill>
              <a:srgbClr val="C5D5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57216" y="10241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9EE8"/>
                </a:solidFill>
              </a:rPr>
              <a:t>Building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310128" y="12801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68"/>
                </a:solidFill>
              </a:rPr>
              <a:t>Month 2–4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10128" y="153619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3A5068"/>
                </a:solidFill>
              </a:rPr>
              <a:t>license_market.compact — selective disclosure + token swap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10128" y="193852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3A5068"/>
                </a:solidFill>
              </a:rPr>
              <a:t>result_integrity.compact — protocol hash commitment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10128" y="2340864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3A5068"/>
                </a:solidFill>
              </a:rPr>
              <a:t>Multi-hospital ZK aggregate proof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10128" y="274320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3A5068"/>
                </a:solidFill>
              </a:rPr>
              <a:t>TVAULT token on Midnight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10128" y="314553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3A5068"/>
                </a:solidFill>
              </a:rPr>
              <a:t>Hospital pilot partnership — live ZK matching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10128" y="354787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3A5068"/>
                </a:solidFill>
              </a:rPr>
              <a:t>Midnight Indexer subgraph — production event indexing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17336" y="914400"/>
            <a:ext cx="274320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17336" y="914400"/>
            <a:ext cx="2743200" cy="54864"/>
          </a:xfrm>
          <a:prstGeom prst="rect">
            <a:avLst/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8776" y="1005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Wave 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55864" y="1024128"/>
            <a:ext cx="685800" cy="201168"/>
          </a:xfrm>
          <a:prstGeom prst="rect">
            <a:avLst/>
          </a:prstGeom>
          <a:solidFill>
            <a:srgbClr val="EAF0F8"/>
          </a:solidFill>
          <a:ln w="12700">
            <a:solidFill>
              <a:srgbClr val="C5D5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55864" y="10241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FA8C8"/>
                </a:solidFill>
              </a:rPr>
              <a:t>Planned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208776" y="12801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68"/>
                </a:solidFill>
              </a:rPr>
              <a:t>Month 4–12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08776" y="153619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3A5068"/>
                </a:solidFill>
              </a:rPr>
              <a:t>event_reporter.compact — adverse event module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08776" y="193852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3A5068"/>
                </a:solidFill>
              </a:rPr>
              <a:t>Enterprise pharma dashboard with KPI analytics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08776" y="2340864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3A5068"/>
                </a:solidFill>
              </a:rPr>
              <a:t>FDA/EMA regulatory documentation package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08776" y="274320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3A5068"/>
                </a:solidFill>
              </a:rPr>
              <a:t>First revenue-generating production trial deployment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08776" y="314553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3A5068"/>
                </a:solidFill>
              </a:rPr>
              <a:t>TVAULT public launch + governance staking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08776" y="354787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3A5068"/>
                </a:solidFill>
              </a:rPr>
              <a:t>APAC regulatory engagement (Japan PMDA, India CDSCO)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B9EE8"/>
                </a:solidFill>
              </a:rPr>
              <a:t>TEAM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Built by people who have seen these failures from the inside.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103120" cy="3794760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097280"/>
            <a:ext cx="731520" cy="73152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Founder / CEO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1645920" cy="201168"/>
          </a:xfrm>
          <a:prstGeom prst="rect">
            <a:avLst/>
          </a:prstGeom>
          <a:solidFill>
            <a:srgbClr val="0E1E33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677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B9EE8"/>
                </a:solidFill>
              </a:rPr>
              <a:t>Cryptography + Web3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2542032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8FA8C8"/>
                </a:solidFill>
              </a:rPr>
              <a:t>Former ZK researcher. Built privacy systems on Midnight from day one. Deep in Compact language and shielded contract design.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32888" y="960120"/>
            <a:ext cx="2103120" cy="3794760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097280"/>
            <a:ext cx="731520" cy="73152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24328" y="1965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61488" y="2267712"/>
            <a:ext cx="1645920" cy="201168"/>
          </a:xfrm>
          <a:prstGeom prst="rect">
            <a:avLst/>
          </a:prstGeom>
          <a:solidFill>
            <a:srgbClr val="0E1E33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61488" y="22677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B9EE8"/>
                </a:solidFill>
              </a:rPr>
              <a:t>Smart contract + ZK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624328" y="2542032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8FA8C8"/>
                </a:solidFill>
              </a:rPr>
              <a:t>Compact/Midnight engineer. Prior: audited 20+ DeFi protocols. Designed the ZK eligibility circuit architecture for healthcare data types.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45736" y="960120"/>
            <a:ext cx="2103120" cy="3794760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31536" y="1097280"/>
            <a:ext cx="731520" cy="73152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37176" y="1965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Head of Clinical Ops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74336" y="2267712"/>
            <a:ext cx="1645920" cy="201168"/>
          </a:xfrm>
          <a:prstGeom prst="rect">
            <a:avLst/>
          </a:prstGeom>
          <a:solidFill>
            <a:srgbClr val="0E1E33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74336" y="22677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B9EE8"/>
                </a:solidFill>
              </a:rPr>
              <a:t>Pharma + Clinical trials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837176" y="2542032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8FA8C8"/>
                </a:solidFill>
              </a:rPr>
              <a:t>10 years at CRO / pharma. Ran Phase III trials across 6 countries. Knows exactly why recruitment fails and what regulators accept.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958584" y="960120"/>
            <a:ext cx="2103120" cy="3794760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44384" y="1097280"/>
            <a:ext cx="731520" cy="73152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44384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050024" y="1965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Head of BD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87184" y="2267712"/>
            <a:ext cx="1645920" cy="201168"/>
          </a:xfrm>
          <a:prstGeom prst="rect">
            <a:avLst/>
          </a:prstGeom>
          <a:solidFill>
            <a:srgbClr val="0E1E33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87184" y="22677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B9EE8"/>
                </a:solidFill>
              </a:rPr>
              <a:t>HealthTech + Enterprise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050024" y="2542032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8FA8C8"/>
                </a:solidFill>
              </a:rPr>
              <a:t>Closed $40M in enterprise HealthTech deals. Network across hospital systems and mid-size pharma.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489204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8C8"/>
                </a:solidFill>
              </a:rPr>
              <a:t>Advisors: ZK cryptography PhD  |  FDA regulatory affairs specialist  |  Hospital CISO  |  Former Pharma CTO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B9EE8"/>
                </a:solidFill>
              </a:rPr>
              <a:t>WHY NOW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137"/>
                </a:solidFill>
              </a:rPr>
              <a:t>Three forces converging. Miss this window and someone else builds it.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206240" cy="64008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EE8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115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</a:rPr>
              <a:t>Midnight Network is production-ready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39319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A5068"/>
                </a:solidFill>
              </a:rPr>
              <a:t>Midnight Network's mainnet infrastructure, Compact language, and Midnight.js SDK are live. Confidential smart contracts with selective disclosure are now deployable. This was not true 18 months ago.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05840"/>
            <a:ext cx="4206240" cy="64008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15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EE8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40680" y="1115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</a:rPr>
              <a:t>Regulation is forcing the issue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1463040"/>
            <a:ext cx="39319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A5068"/>
                </a:solidFill>
              </a:rPr>
              <a:t>EU AI Act (2024) imposes strict privacy requirements on AI health systems. GDPR enforcement increased 135% in 2024. 57% of pharma cite privacy as #1 AI adoption blocker — they need a solution now.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907792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07792"/>
            <a:ext cx="4206240" cy="64008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EE8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017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</a:rPr>
              <a:t>Trial failure costs are peaking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364992"/>
            <a:ext cx="39319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A5068"/>
                </a:solidFill>
              </a:rPr>
              <a:t>Post-COVID pipeline pressure has pharma spending more on trials with worse recruitment outcomes. Average trial cost hit $41K per patient in 2025. CFOs are demanding a structural fix, not better outreach.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2907792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907792"/>
            <a:ext cx="4206240" cy="64008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EE8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40680" y="3017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</a:rPr>
              <a:t>ZK adoption has crossed the threshold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3364992"/>
            <a:ext cx="39319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A5068"/>
                </a:solidFill>
              </a:rPr>
              <a:t>ZK proofs have moved from theoretical to production-grade. Midnight's Compact language makes writing healthcare eligibility circuits accessible. Patient privacy via ZK is no longer a research project.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TrialVault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8C8"/>
                </a:solidFill>
              </a:rPr>
              <a:t>We are raising a pre-seed round.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114800" cy="1298448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64008" cy="1298448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8562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Hackathon funding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1945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8FA8C8"/>
                </a:solidFill>
              </a:rPr>
              <a:t>Wave 2 build: license_market.compact, cross-hospital ZK proofs, result integrity layer, hospital pilot.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81728" y="1691640"/>
            <a:ext cx="4114800" cy="1298448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1691640"/>
            <a:ext cx="64008" cy="1298448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18562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Midnight ecosystem support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82896" y="21945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8FA8C8"/>
                </a:solidFill>
              </a:rPr>
              <a:t>Compact language technical guidance, gas/proof optimization for medical ZK workloads, testnet to mainnet migration.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4114800" cy="1298448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54680"/>
            <a:ext cx="64008" cy="1298448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3192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Strategic intro: hospitals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65760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8FA8C8"/>
                </a:solidFill>
              </a:rPr>
              <a:t>One research hospital willing to run a live ZK cohort pilot — the proof-of-concept that unlocks pharma.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81728" y="3154680"/>
            <a:ext cx="4114800" cy="1298448"/>
          </a:xfrm>
          <a:prstGeom prst="rect">
            <a:avLst/>
          </a:prstGeom>
          <a:solidFill>
            <a:srgbClr val="102035"/>
          </a:solidFill>
          <a:ln w="12700">
            <a:solidFill>
              <a:srgbClr val="1D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1728" y="3154680"/>
            <a:ext cx="64008" cy="1298448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82896" y="33192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Strategic intro: pharma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82896" y="365760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8FA8C8"/>
                </a:solidFill>
              </a:rPr>
              <a:t>Mid-size pharma or CRO for the first paid trial — the anchor customer that validates the business model.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11C"/>
          </a:solidFill>
          <a:ln w="12700">
            <a:solidFill>
              <a:srgbClr val="0811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TrialVault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E8EFF7"/>
                </a:solidFill>
              </a:rPr>
              <a:t>Clinical trials that are faster,</a:t>
            </a:r>
            <a:endParaRPr lang="en-US" sz="20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E8EFF7"/>
                </a:solidFill>
              </a:rPr>
              <a:t>fairer, and impossible to corrupt.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8"/>
                </a:solidFill>
              </a:rPr>
              <a:t>85 million people are enrolled in clinical trials each year.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8"/>
                </a:solidFill>
              </a:rPr>
              <a:t>They deserve a platform built for them.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9EE8"/>
                </a:solidFill>
              </a:rPr>
              <a:t>Let's build this together 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8C8"/>
                </a:solidFill>
              </a:rPr>
              <a:t>Built on Midnight Network  ·  ZK-native from day one  ·  github.com/trialvault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TrialVault – Midnight Network</dc:title>
  <dc:subject>PptxGenJS Presentation</dc:subject>
  <dc:creator>PptxGenJS</dc:creator>
  <cp:lastModifiedBy>PptxGenJS</cp:lastModifiedBy>
  <cp:revision>1</cp:revision>
  <dcterms:created xsi:type="dcterms:W3CDTF">2026-04-10T12:03:42Z</dcterms:created>
  <dcterms:modified xsi:type="dcterms:W3CDTF">2026-04-10T12:03:42Z</dcterms:modified>
</cp:coreProperties>
</file>